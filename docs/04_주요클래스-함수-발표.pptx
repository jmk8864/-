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4f4b1d8c-8356-b9c5-8307-348fd3bd9d5f}">
          <p14:sldIdLst>
            <p14:sldId id="256"/>
            <p14:sldId id="257"/>
            <p14:sldId id="258"/>
          </p14:sldIdLst>
        </p14:section>
        <p14:section name="app-server.ftms" id="{ef04bd03-269a-41e2-bb9e-f313b93741a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</p14:sldIdLst>
        </p14:section>
        <p14:section name="DxfBlazorViewer.Client" id="{ac99f2a5-9ba5-7d61-1d6a-1733b36722f9}">
          <p14:sldIdLst>
            <p14:sldId id="270"/>
            <p14:sldId id="271"/>
            <p14:sldId id="272"/>
            <p14:sldId id="273"/>
          </p14:sldIdLst>
        </p14:section>
        <p14:section name="정리" id="{449ba32c-a699-2ac3-eafd-60efab03e83f}">
          <p14:sldIdLst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CJ.SCADA FTMS 의 서버(app-server.ftms)와 웹 UI(DxfBlazorViewer.Client) 코드 구조를 설명하는 자료입니다. 상세 내용은 docs/04 문서와 PDF 판을 참고합니다.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부분으로 구성됩니다. 각 흐름은 시퀀스 다이어그램으로 보여 주고, 오른쪽 패널에 핵심만 정리했습니다.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화면과 API 가 같은 주소여야 하므로 리버스 프록시가 필수입니다. 도크 통신은 REST 가 아닌 TCP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Program.cs 는 서비스 등록 → DB 초기화 → 미들웨어 → app.Run 순서입니다. 서버가 늦게 뜨는 이유와 로그인 실패 현상이 여기서 설명됩니다.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연결은 (서버IP, 6004, 클라이언트IP, 임시포트) 네 값으로 구분됩니다. async I/O 라 스레드를 연결 수만큼 만들지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클라이언트의 메시지는 순서대로, 서로 다른 클라이언트는 병렬로 처리됩니다. 공용 자원은 ConcurrentDictionary 와 Channel 로 보호합니다.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StateManager 는 싱글턴이면서 HostedService 로도 등록된, 시스템 상태의 중심입니다.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1~2초 폴링 코드에 중단점을 걸면 WASM 디버깅이 매우 느려집니다. Viewer 는 IAsyncDisposable 만 구현해 Dispose() 가 호출되지 않는 점도 주의합니다.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097280"/>
            <a:ext cx="10698480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BFE3D8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ARK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D6EFE7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FE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0"/>
                </a:solidFill>
              </a:rPr>
              <a:t>CJ.SCADA FTMS · 주요 클래스·함수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FE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097280"/>
            <a:ext cx="10698480" cy="2743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app-server.ftms / DxfBlazorViewer.Client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주요 클래스·함수 설명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BFE3D8"/>
                </a:solidFill>
              </a:rPr>
              <a:t>구조 · 시퀀스 · 함수별 역할 · 주의할 점  |  CJ.SCADA FTMS 개발 참고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이 자료에서 다루는 내용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"/>
          <p:cNvSpPr/>
          <p:nvPr/>
        </p:nvSpPr>
        <p:spPr>
          <a:xfrm>
            <a:off x="658368" y="1435608"/>
            <a:ext cx="457200" cy="457200"/>
          </a:xfrm>
          <a:prstGeom prst="ellipse">
            <a:avLst/>
          </a:prstGeom>
          <a:solidFill>
            <a:srgbClr val="0F6E5C"/>
          </a:solidFill>
          <a:ln w="12700">
            <a:solidFill>
              <a:srgbClr val="0F6E5C"/>
            </a:solidFill>
            <a:prstDash val="solid"/>
          </a:ln>
        </p:spPr>
      </p:sp>
      <p:sp>
        <p:nvSpPr>
          <p:cNvPr id="5" name="badge-num"/>
          <p:cNvSpPr txBox="1"/>
          <p:nvPr/>
        </p:nvSpPr>
        <p:spPr>
          <a:xfrm>
            <a:off x="65836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card-head"/>
          <p:cNvSpPr txBox="1"/>
          <p:nvPr/>
        </p:nvSpPr>
        <p:spPr>
          <a:xfrm>
            <a:off x="1234440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전체 구성</a:t>
            </a:r>
            <a:endParaRPr lang="en-US" sz="1600" dirty="0"/>
          </a:p>
        </p:txBody>
      </p:sp>
      <p:sp>
        <p:nvSpPr>
          <p:cNvPr id="7" name="card-body"/>
          <p:cNvSpPr txBox="1"/>
          <p:nvPr/>
        </p:nvSpPr>
        <p:spPr>
          <a:xfrm>
            <a:off x="685800" y="20116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도크 → TCP → app-server → DB, 브라우저 → nginx 경로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6217920" y="123444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"/>
          <p:cNvSpPr/>
          <p:nvPr/>
        </p:nvSpPr>
        <p:spPr>
          <a:xfrm>
            <a:off x="6419088" y="1435608"/>
            <a:ext cx="457200" cy="457200"/>
          </a:xfrm>
          <a:prstGeom prst="ellipse">
            <a:avLst/>
          </a:prstGeom>
          <a:solidFill>
            <a:srgbClr val="0F6E5C"/>
          </a:solidFill>
          <a:ln w="12700">
            <a:solidFill>
              <a:srgbClr val="0F6E5C"/>
            </a:solidFill>
            <a:prstDash val="solid"/>
          </a:ln>
        </p:spPr>
      </p:sp>
      <p:sp>
        <p:nvSpPr>
          <p:cNvPr id="10" name="badge-num"/>
          <p:cNvSpPr txBox="1"/>
          <p:nvPr/>
        </p:nvSpPr>
        <p:spPr>
          <a:xfrm>
            <a:off x="641908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card-head"/>
          <p:cNvSpPr txBox="1"/>
          <p:nvPr/>
        </p:nvSpPr>
        <p:spPr>
          <a:xfrm>
            <a:off x="6995160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서버 처리 흐름</a:t>
            </a:r>
            <a:endParaRPr lang="en-US" sz="1600" dirty="0"/>
          </a:p>
        </p:txBody>
      </p:sp>
      <p:sp>
        <p:nvSpPr>
          <p:cNvPr id="12" name="card-body"/>
          <p:cNvSpPr txBox="1"/>
          <p:nvPr/>
        </p:nvSpPr>
        <p:spPr>
          <a:xfrm>
            <a:off x="6446520" y="20116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기동 · TCP 세션 · Heartbeat · 수집/집계 · 설정 변경 · 로그인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74904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"/>
          <p:cNvSpPr/>
          <p:nvPr/>
        </p:nvSpPr>
        <p:spPr>
          <a:xfrm>
            <a:off x="658368" y="3950208"/>
            <a:ext cx="457200" cy="457200"/>
          </a:xfrm>
          <a:prstGeom prst="ellipse">
            <a:avLst/>
          </a:prstGeom>
          <a:solidFill>
            <a:srgbClr val="0F6E5C"/>
          </a:solidFill>
          <a:ln w="12700">
            <a:solidFill>
              <a:srgbClr val="0F6E5C"/>
            </a:solidFill>
            <a:prstDash val="solid"/>
          </a:ln>
        </p:spPr>
      </p:sp>
      <p:sp>
        <p:nvSpPr>
          <p:cNvPr id="15" name="badge-num"/>
          <p:cNvSpPr txBox="1"/>
          <p:nvPr/>
        </p:nvSpPr>
        <p:spPr>
          <a:xfrm>
            <a:off x="65836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card-head"/>
          <p:cNvSpPr txBox="1"/>
          <p:nvPr/>
        </p:nvSpPr>
        <p:spPr>
          <a:xfrm>
            <a:off x="123444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웹 UI 구조</a:t>
            </a:r>
            <a:endParaRPr lang="en-US" sz="1600" dirty="0"/>
          </a:p>
        </p:txBody>
      </p:sp>
      <p:sp>
        <p:nvSpPr>
          <p:cNvPr id="17" name="card-body"/>
          <p:cNvSpPr txBox="1"/>
          <p:nvPr/>
        </p:nvSpPr>
        <p:spPr>
          <a:xfrm>
            <a:off x="685800" y="45262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App 셸 · Viewer 데이터 흐름 · 렌더러 · 페이지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6217920" y="374904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"/>
          <p:cNvSpPr/>
          <p:nvPr/>
        </p:nvSpPr>
        <p:spPr>
          <a:xfrm>
            <a:off x="6419088" y="3950208"/>
            <a:ext cx="457200" cy="457200"/>
          </a:xfrm>
          <a:prstGeom prst="ellipse">
            <a:avLst/>
          </a:prstGeom>
          <a:solidFill>
            <a:srgbClr val="0F6E5C"/>
          </a:solidFill>
          <a:ln w="12700">
            <a:solidFill>
              <a:srgbClr val="0F6E5C"/>
            </a:solidFill>
            <a:prstDash val="solid"/>
          </a:ln>
        </p:spPr>
      </p:sp>
      <p:sp>
        <p:nvSpPr>
          <p:cNvPr id="20" name="badge-num"/>
          <p:cNvSpPr txBox="1"/>
          <p:nvPr/>
        </p:nvSpPr>
        <p:spPr>
          <a:xfrm>
            <a:off x="641908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card-head"/>
          <p:cNvSpPr txBox="1"/>
          <p:nvPr/>
        </p:nvSpPr>
        <p:spPr>
          <a:xfrm>
            <a:off x="699516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주의 사항</a:t>
            </a:r>
            <a:endParaRPr lang="en-US" sz="1600" dirty="0"/>
          </a:p>
        </p:txBody>
      </p:sp>
      <p:sp>
        <p:nvSpPr>
          <p:cNvPr id="22" name="card-body"/>
          <p:cNvSpPr txBox="1"/>
          <p:nvPr/>
        </p:nvSpPr>
        <p:spPr>
          <a:xfrm>
            <a:off x="6446520" y="45262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보안 · 기동 · 상태 영속화 · 끊김 표시 · 예외 처리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전체 구성과 데이터 경로</a:t>
            </a:r>
            <a:endParaRPr lang="en-US" sz="3000" dirty="0"/>
          </a:p>
        </p:txBody>
      </p:sp>
      <p:sp>
        <p:nvSpPr>
          <p:cNvPr id="3" name="diagram-frame"/>
          <p:cNvSpPr/>
          <p:nvPr/>
        </p:nvSpPr>
        <p:spPr>
          <a:xfrm>
            <a:off x="457200" y="1143000"/>
            <a:ext cx="78181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</p:spPr>
      </p:sp>
      <p:pic>
        <p:nvPicPr>
          <p:cNvPr id="4" name="전체 구성과 데이터 경로" descr="전체 구성과 데이터 경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567" y="1252728"/>
            <a:ext cx="7097386" cy="4901184"/>
          </a:xfrm>
          <a:prstGeom prst="rect">
            <a:avLst/>
          </a:prstGeom>
        </p:spPr>
      </p:pic>
      <p:sp>
        <p:nvSpPr>
          <p:cNvPr id="5" name="points-panel"/>
          <p:cNvSpPr/>
          <p:nvPr/>
        </p:nvSpPr>
        <p:spPr>
          <a:xfrm>
            <a:off x="8503920" y="1143000"/>
            <a:ext cx="3246120" cy="5120640"/>
          </a:xfrm>
          <a:prstGeom prst="roundRect">
            <a:avLst>
              <a:gd name="adj" fmla="val 2254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6" name="points-text"/>
          <p:cNvSpPr txBox="1"/>
          <p:nvPr/>
        </p:nvSpPr>
        <p:spPr>
          <a:xfrm>
            <a:off x="8732520" y="1325880"/>
            <a:ext cx="2788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도크 → TCP 6004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STX·JSON·ETX 프레임. JsonMessagedHandler 가 heartbeat / process_count 로 분기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브라우저 → nginx :80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/api · /chathub · /health 는 8121, 나머지는 8122(WASM)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DB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WSL Docker 의 PostgreSQL 17 + TimescaleDB (authdb / ftmsdb)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app-server.ftms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D6EFE7"/>
                </a:solidFill>
              </a:rPr>
              <a:t>TCP 통신 · 상태 관리 · 수집·집계 · REST API · SignalR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FE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기동 순서</a:t>
            </a:r>
            <a:endParaRPr lang="en-US" sz="3000" dirty="0"/>
          </a:p>
        </p:txBody>
      </p:sp>
      <p:sp>
        <p:nvSpPr>
          <p:cNvPr id="3" name="diagram-frame"/>
          <p:cNvSpPr/>
          <p:nvPr/>
        </p:nvSpPr>
        <p:spPr>
          <a:xfrm>
            <a:off x="457200" y="1143000"/>
            <a:ext cx="78181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</p:spPr>
      </p:sp>
      <p:pic>
        <p:nvPicPr>
          <p:cNvPr id="4" name="기동 순서" descr="기동 순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5049" y="1252728"/>
            <a:ext cx="4522422" cy="4901184"/>
          </a:xfrm>
          <a:prstGeom prst="rect">
            <a:avLst/>
          </a:prstGeom>
        </p:spPr>
      </p:pic>
      <p:sp>
        <p:nvSpPr>
          <p:cNvPr id="5" name="points-panel"/>
          <p:cNvSpPr/>
          <p:nvPr/>
        </p:nvSpPr>
        <p:spPr>
          <a:xfrm>
            <a:off x="8503920" y="1143000"/>
            <a:ext cx="3246120" cy="5120640"/>
          </a:xfrm>
          <a:prstGeom prst="roundRect">
            <a:avLst>
              <a:gd name="adj" fmla="val 2254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6" name="points-text"/>
          <p:cNvSpPr txBox="1"/>
          <p:nvPr/>
        </p:nvSpPr>
        <p:spPr>
          <a:xfrm>
            <a:off x="8732520" y="1325880"/>
            <a:ext cx="2788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확장 메서드로 구성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AddDbContextDetails, BuildDatabaseAsync 등은 ConfigurationHelper 의 this 확장 메서드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B8452F"/>
                </a:solidFill>
              </a:rPr>
              <a:t>DB 가 먼저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BuildDatabaseAsync 가 DB 연결에 실패하면 8121 이 열리지 않음 (B12)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포트는 마지막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HostedService StartAsync 가 모두 끝난 뒤 Kestrel 시작 → 그 전 로그인은 502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서버 주요 클래스 관계</a:t>
            </a:r>
            <a:endParaRPr lang="en-US" sz="3000" dirty="0"/>
          </a:p>
        </p:txBody>
      </p:sp>
      <p:sp>
        <p:nvSpPr>
          <p:cNvPr id="3" name="diagram-frame"/>
          <p:cNvSpPr/>
          <p:nvPr/>
        </p:nvSpPr>
        <p:spPr>
          <a:xfrm>
            <a:off x="457200" y="1143000"/>
            <a:ext cx="78181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</p:spPr>
      </p:sp>
      <p:pic>
        <p:nvPicPr>
          <p:cNvPr id="4" name="서버 주요 클래스 관계" descr="서버 주요 클래스 관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2753" y="1252728"/>
            <a:ext cx="4847013" cy="4901184"/>
          </a:xfrm>
          <a:prstGeom prst="rect">
            <a:avLst/>
          </a:prstGeom>
        </p:spPr>
      </p:pic>
      <p:sp>
        <p:nvSpPr>
          <p:cNvPr id="5" name="points-panel"/>
          <p:cNvSpPr/>
          <p:nvPr/>
        </p:nvSpPr>
        <p:spPr>
          <a:xfrm>
            <a:off x="8503920" y="1143000"/>
            <a:ext cx="3246120" cy="5120640"/>
          </a:xfrm>
          <a:prstGeom prst="roundRect">
            <a:avLst>
              <a:gd name="adj" fmla="val 2254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6" name="points-text"/>
          <p:cNvSpPr txBox="1"/>
          <p:nvPr/>
        </p:nvSpPr>
        <p:spPr>
          <a:xfrm>
            <a:off x="8732520" y="1325880"/>
            <a:ext cx="2788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TCP 계층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TcpServerFinalService → ITcpMessageHandler (Priority 순, 리플렉션 자동 등록)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상태 중심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LogisticsSystemStateManager 가 EventDataStoreService(메모리)를 통해 모든 현재 상태 보관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컨트롤러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대부분 StateManager 를 읽고, 설정 변경은 AssetItemUpdateChannel 로 전달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TCP 연결 수락과 세션 처리</a:t>
            </a:r>
            <a:endParaRPr lang="en-US" sz="3000" dirty="0"/>
          </a:p>
        </p:txBody>
      </p:sp>
      <p:sp>
        <p:nvSpPr>
          <p:cNvPr id="3" name="diagram-frame"/>
          <p:cNvSpPr/>
          <p:nvPr/>
        </p:nvSpPr>
        <p:spPr>
          <a:xfrm>
            <a:off x="457200" y="1143000"/>
            <a:ext cx="78181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</p:spPr>
      </p:sp>
      <p:pic>
        <p:nvPicPr>
          <p:cNvPr id="4" name="TCP 연결 수락과 세션 처리" descr="TCP 연결 수락과 세션 처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173" y="1252728"/>
            <a:ext cx="6654174" cy="4901184"/>
          </a:xfrm>
          <a:prstGeom prst="rect">
            <a:avLst/>
          </a:prstGeom>
        </p:spPr>
      </p:pic>
      <p:sp>
        <p:nvSpPr>
          <p:cNvPr id="5" name="points-panel"/>
          <p:cNvSpPr/>
          <p:nvPr/>
        </p:nvSpPr>
        <p:spPr>
          <a:xfrm>
            <a:off x="8503920" y="1143000"/>
            <a:ext cx="3246120" cy="5120640"/>
          </a:xfrm>
          <a:prstGeom prst="roundRect">
            <a:avLst>
              <a:gd name="adj" fmla="val 2254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6" name="points-text"/>
          <p:cNvSpPr txBox="1"/>
          <p:nvPr/>
        </p:nvSpPr>
        <p:spPr>
          <a:xfrm>
            <a:off x="8732520" y="1325880"/>
            <a:ext cx="2788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await 하지 않고 시작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세션 Task 를 띄우고 즉시 다음 Accept → 포트 하나로 다수 클라이언트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연결마다 Pipe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수신(FillPipe)과 해석(ReadPipe + ProtocolParser)이 병렬, 데이터가 섞이지 않음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타임아웃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5초마다 검사, 10초 무수신 연결 종료 (TcpServerFinal:TimeoutSeconds)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한 포트로 다수 클라이언트를 처리하는 원리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"/>
          <p:cNvSpPr/>
          <p:nvPr/>
        </p:nvSpPr>
        <p:spPr>
          <a:xfrm>
            <a:off x="658368" y="1435608"/>
            <a:ext cx="457200" cy="457200"/>
          </a:xfrm>
          <a:prstGeom prst="ellipse">
            <a:avLst/>
          </a:prstGeom>
          <a:solidFill>
            <a:srgbClr val="0F6E5C"/>
          </a:solidFill>
          <a:ln w="12700">
            <a:solidFill>
              <a:srgbClr val="0F6E5C"/>
            </a:solidFill>
            <a:prstDash val="solid"/>
          </a:ln>
        </p:spPr>
      </p:sp>
      <p:sp>
        <p:nvSpPr>
          <p:cNvPr id="5" name="badge-num"/>
          <p:cNvSpPr txBox="1"/>
          <p:nvPr/>
        </p:nvSpPr>
        <p:spPr>
          <a:xfrm>
            <a:off x="65836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card-head"/>
          <p:cNvSpPr txBox="1"/>
          <p:nvPr/>
        </p:nvSpPr>
        <p:spPr>
          <a:xfrm>
            <a:off x="1234440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TCP 4-튜플</a:t>
            </a:r>
            <a:endParaRPr lang="en-US" sz="1600" dirty="0"/>
          </a:p>
        </p:txBody>
      </p:sp>
      <p:sp>
        <p:nvSpPr>
          <p:cNvPr id="7" name="card-body"/>
          <p:cNvSpPr txBox="1"/>
          <p:nvPr/>
        </p:nvSpPr>
        <p:spPr>
          <a:xfrm>
            <a:off x="685800" y="20116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연결 = (서버IP, 6004, 클라이언트IP, 임시포트). 대기 소켓 1개, 연결마다 소켓 1개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6217920" y="123444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"/>
          <p:cNvSpPr/>
          <p:nvPr/>
        </p:nvSpPr>
        <p:spPr>
          <a:xfrm>
            <a:off x="6419088" y="1435608"/>
            <a:ext cx="457200" cy="457200"/>
          </a:xfrm>
          <a:prstGeom prst="ellipse">
            <a:avLst/>
          </a:prstGeom>
          <a:solidFill>
            <a:srgbClr val="0F6E5C"/>
          </a:solidFill>
          <a:ln w="12700">
            <a:solidFill>
              <a:srgbClr val="0F6E5C"/>
            </a:solidFill>
            <a:prstDash val="solid"/>
          </a:ln>
        </p:spPr>
      </p:sp>
      <p:sp>
        <p:nvSpPr>
          <p:cNvPr id="10" name="badge-num"/>
          <p:cNvSpPr txBox="1"/>
          <p:nvPr/>
        </p:nvSpPr>
        <p:spPr>
          <a:xfrm>
            <a:off x="641908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card-head"/>
          <p:cNvSpPr txBox="1"/>
          <p:nvPr/>
        </p:nvSpPr>
        <p:spPr>
          <a:xfrm>
            <a:off x="6995160" y="14173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세션 Task 분리</a:t>
            </a:r>
            <a:endParaRPr lang="en-US" sz="1600" dirty="0"/>
          </a:p>
        </p:txBody>
      </p:sp>
      <p:sp>
        <p:nvSpPr>
          <p:cNvPr id="12" name="card-body"/>
          <p:cNvSpPr txBox="1"/>
          <p:nvPr/>
        </p:nvSpPr>
        <p:spPr>
          <a:xfrm>
            <a:off x="6446520" y="20116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ListenOnPortAsync 가 HandleClientSessionAsync 를 await 하지 않고 시작만 함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57200" y="374904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"/>
          <p:cNvSpPr/>
          <p:nvPr/>
        </p:nvSpPr>
        <p:spPr>
          <a:xfrm>
            <a:off x="658368" y="3950208"/>
            <a:ext cx="457200" cy="457200"/>
          </a:xfrm>
          <a:prstGeom prst="ellipse">
            <a:avLst/>
          </a:prstGeom>
          <a:solidFill>
            <a:srgbClr val="0F6E5C"/>
          </a:solidFill>
          <a:ln w="12700">
            <a:solidFill>
              <a:srgbClr val="0F6E5C"/>
            </a:solidFill>
            <a:prstDash val="solid"/>
          </a:ln>
        </p:spPr>
      </p:sp>
      <p:sp>
        <p:nvSpPr>
          <p:cNvPr id="15" name="badge-num"/>
          <p:cNvSpPr txBox="1"/>
          <p:nvPr/>
        </p:nvSpPr>
        <p:spPr>
          <a:xfrm>
            <a:off x="65836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card-head"/>
          <p:cNvSpPr txBox="1"/>
          <p:nvPr/>
        </p:nvSpPr>
        <p:spPr>
          <a:xfrm>
            <a:off x="123444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연결 전용 Pipe</a:t>
            </a:r>
            <a:endParaRPr lang="en-US" sz="1600" dirty="0"/>
          </a:p>
        </p:txBody>
      </p:sp>
      <p:sp>
        <p:nvSpPr>
          <p:cNvPr id="17" name="card-body"/>
          <p:cNvSpPr txBox="1"/>
          <p:nvPr/>
        </p:nvSpPr>
        <p:spPr>
          <a:xfrm>
            <a:off x="685800" y="45262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STX…ETX 완성 메시지만 꺼내고, 덜 받은 부분은 다음 수신과 이어 붙임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6217920" y="3749040"/>
            <a:ext cx="55321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"/>
          <p:cNvSpPr/>
          <p:nvPr/>
        </p:nvSpPr>
        <p:spPr>
          <a:xfrm>
            <a:off x="6419088" y="3950208"/>
            <a:ext cx="457200" cy="457200"/>
          </a:xfrm>
          <a:prstGeom prst="ellipse">
            <a:avLst/>
          </a:prstGeom>
          <a:solidFill>
            <a:srgbClr val="0F6E5C"/>
          </a:solidFill>
          <a:ln w="12700">
            <a:solidFill>
              <a:srgbClr val="0F6E5C"/>
            </a:solidFill>
            <a:prstDash val="solid"/>
          </a:ln>
        </p:spPr>
      </p:sp>
      <p:sp>
        <p:nvSpPr>
          <p:cNvPr id="20" name="badge-num"/>
          <p:cNvSpPr txBox="1"/>
          <p:nvPr/>
        </p:nvSpPr>
        <p:spPr>
          <a:xfrm>
            <a:off x="641908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card-head"/>
          <p:cNvSpPr txBox="1"/>
          <p:nvPr/>
        </p:nvSpPr>
        <p:spPr>
          <a:xfrm>
            <a:off x="6995160" y="39319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async I/O</a:t>
            </a:r>
            <a:endParaRPr lang="en-US" sz="1600" dirty="0"/>
          </a:p>
        </p:txBody>
      </p:sp>
      <p:sp>
        <p:nvSpPr>
          <p:cNvPr id="22" name="card-body"/>
          <p:cNvSpPr txBox="1"/>
          <p:nvPr/>
        </p:nvSpPr>
        <p:spPr>
          <a:xfrm>
            <a:off x="6446520" y="4526280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ReadAsync 대기 중 스레드 반환, IOCP 완료 알림으로 소수 스레드가 처리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Heartbeat 처리</a:t>
            </a:r>
            <a:endParaRPr lang="en-US" sz="3000" dirty="0"/>
          </a:p>
        </p:txBody>
      </p:sp>
      <p:sp>
        <p:nvSpPr>
          <p:cNvPr id="3" name="diagram-frame"/>
          <p:cNvSpPr/>
          <p:nvPr/>
        </p:nvSpPr>
        <p:spPr>
          <a:xfrm>
            <a:off x="457200" y="1143000"/>
            <a:ext cx="78181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</p:spPr>
      </p:sp>
      <p:pic>
        <p:nvPicPr>
          <p:cNvPr id="4" name="Heartbeat 처리" descr="Heartbeat 처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4728"/>
            <a:ext cx="7598664" cy="4577183"/>
          </a:xfrm>
          <a:prstGeom prst="rect">
            <a:avLst/>
          </a:prstGeom>
        </p:spPr>
      </p:pic>
      <p:sp>
        <p:nvSpPr>
          <p:cNvPr id="5" name="points-panel"/>
          <p:cNvSpPr/>
          <p:nvPr/>
        </p:nvSpPr>
        <p:spPr>
          <a:xfrm>
            <a:off x="8503920" y="1143000"/>
            <a:ext cx="3246120" cy="5120640"/>
          </a:xfrm>
          <a:prstGeom prst="roundRect">
            <a:avLst>
              <a:gd name="adj" fmla="val 2254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6" name="points-text"/>
          <p:cNvSpPr txBox="1"/>
          <p:nvPr/>
        </p:nvSpPr>
        <p:spPr>
          <a:xfrm>
            <a:off x="8732520" y="1325880"/>
            <a:ext cx="2788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상태 저장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메모리에 덮어쓰고 10초마다 dock_message_events 에 기록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설정 내려주기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응답에 도크 활성 파라미터(없으면 Default)를 실어 보냄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알람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장치 상태 비트 변화만 ftms_event_log 로 기록 (DeviceStatusManager)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LogisticsSystemStateManager 핵심 함수</a:t>
            </a:r>
            <a:endParaRPr lang="en-US" sz="3000" dirty="0"/>
          </a:p>
        </p:txBody>
      </p:sp>
      <p:graphicFrame>
        <p:nvGraphicFramePr>
          <p:cNvPr id="11" name="statemanager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9284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4572000"/>
                <a:gridCol w="3154680"/>
              </a:tblGrid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함수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역할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주의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E5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StartAsync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이벤트 테이블 생성, 상태 복원, 분류 파라미터 로드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복원 테이블 불일치 (B15)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GetResponseHeartbeatMessageAsync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상태 정규화 → 저장 → 파라미터 담은 응답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Default 공유 객체 수정 (B3)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AccumProcessCountFromClientAsync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도크별 최근 5분 슬라이딩 누적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가변 객체 반환 (B10)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GetAllStatusAsync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/api/Dock/status 의 원천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끊긴 도크도 그대로 (B17)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ExecuteAsync / Dispatch…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설정 채널을 읽어 메모리 반영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</a:rPr>
                        <a:t>DELETE 는 통지 없음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상태 저장·복원 테이블 불일치 (B15)</a:t>
            </a:r>
            <a:endParaRPr lang="en-US" sz="3000" dirty="0"/>
          </a:p>
        </p:txBody>
      </p:sp>
      <p:sp>
        <p:nvSpPr>
          <p:cNvPr id="3" name="diagram-frame"/>
          <p:cNvSpPr/>
          <p:nvPr/>
        </p:nvSpPr>
        <p:spPr>
          <a:xfrm>
            <a:off x="457200" y="1143000"/>
            <a:ext cx="1129284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</p:spPr>
      </p:sp>
      <p:pic>
        <p:nvPicPr>
          <p:cNvPr id="4" name="상태 저장·복원 테이블 불일치 (B15)" descr="상태 저장·복원 테이블 불일치 (B15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435962"/>
            <a:ext cx="11018520" cy="1425756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457200" y="3429000"/>
            <a:ext cx="3581400" cy="2834640"/>
          </a:xfrm>
          <a:prstGeom prst="roundRect">
            <a:avLst>
              <a:gd name="adj" fmla="val 2581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58368" y="3593592"/>
            <a:ext cx="3179064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저장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FlushAsync → InsertAsync → dock_message_events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312920" y="3429000"/>
            <a:ext cx="3581400" cy="2834640"/>
          </a:xfrm>
          <a:prstGeom prst="roundRect">
            <a:avLst>
              <a:gd name="adj" fmla="val 2581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4514088" y="3593592"/>
            <a:ext cx="3179064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452F"/>
                </a:solidFill>
              </a:rPr>
              <a:t>복원·정리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RestoreAsync, DeleteOldEventsAsync → event_data_store (비어 있음)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8168640" y="3429000"/>
            <a:ext cx="3581400" cy="2834640"/>
          </a:xfrm>
          <a:prstGeom prst="roundRect">
            <a:avLst>
              <a:gd name="adj" fmla="val 2581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8369808" y="3593592"/>
            <a:ext cx="3179064" cy="2505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영향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재시작 후 도크 상태·누적 수량 미복원. 화면은 패치로 '미접속' 표시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처리수량 수집·집계</a:t>
            </a:r>
            <a:endParaRPr lang="en-US" sz="3000" dirty="0"/>
          </a:p>
        </p:txBody>
      </p:sp>
      <p:sp>
        <p:nvSpPr>
          <p:cNvPr id="3" name="diagram-frame"/>
          <p:cNvSpPr/>
          <p:nvPr/>
        </p:nvSpPr>
        <p:spPr>
          <a:xfrm>
            <a:off x="457200" y="1143000"/>
            <a:ext cx="78181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</p:spPr>
      </p:sp>
      <p:pic>
        <p:nvPicPr>
          <p:cNvPr id="4" name="처리수량 수집·집계" descr="처리수량 수집·집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0231" y="1252728"/>
            <a:ext cx="6152059" cy="4901184"/>
          </a:xfrm>
          <a:prstGeom prst="rect">
            <a:avLst/>
          </a:prstGeom>
        </p:spPr>
      </p:pic>
      <p:sp>
        <p:nvSpPr>
          <p:cNvPr id="5" name="points-panel"/>
          <p:cNvSpPr/>
          <p:nvPr/>
        </p:nvSpPr>
        <p:spPr>
          <a:xfrm>
            <a:off x="8503920" y="1143000"/>
            <a:ext cx="3246120" cy="5120640"/>
          </a:xfrm>
          <a:prstGeom prst="roundRect">
            <a:avLst>
              <a:gd name="adj" fmla="val 2254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6" name="points-text"/>
          <p:cNvSpPr txBox="1"/>
          <p:nvPr/>
        </p:nvSpPr>
        <p:spPr>
          <a:xfrm>
            <a:off x="8732520" y="1325880"/>
            <a:ext cx="2788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채널로 분리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핸들러는 채널에 넣고 즉시 OK → 수신과 DB 처리 분리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4개 작업 병렬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5분 누적 · collected_payload 적재 · v4 처리 · 분/시/일 집계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B8452F"/>
                </a:solidFill>
              </a:rPr>
              <a:t>집계 루프 보호 없음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DB 오류 1회로 영구 정지 가능 (B6)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로그인·토큰</a:t>
            </a:r>
            <a:endParaRPr lang="en-US" sz="3000" dirty="0"/>
          </a:p>
        </p:txBody>
      </p:sp>
      <p:sp>
        <p:nvSpPr>
          <p:cNvPr id="3" name="diagram-frame"/>
          <p:cNvSpPr/>
          <p:nvPr/>
        </p:nvSpPr>
        <p:spPr>
          <a:xfrm>
            <a:off x="457200" y="1143000"/>
            <a:ext cx="78181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</p:spPr>
      </p:sp>
      <p:pic>
        <p:nvPicPr>
          <p:cNvPr id="4" name="로그인·토큰" descr="로그인·토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518" y="1252728"/>
            <a:ext cx="6605483" cy="4901184"/>
          </a:xfrm>
          <a:prstGeom prst="rect">
            <a:avLst/>
          </a:prstGeom>
        </p:spPr>
      </p:pic>
      <p:sp>
        <p:nvSpPr>
          <p:cNvPr id="5" name="points-panel"/>
          <p:cNvSpPr/>
          <p:nvPr/>
        </p:nvSpPr>
        <p:spPr>
          <a:xfrm>
            <a:off x="8503920" y="1143000"/>
            <a:ext cx="3246120" cy="5120640"/>
          </a:xfrm>
          <a:prstGeom prst="roundRect">
            <a:avLst>
              <a:gd name="adj" fmla="val 2254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6" name="points-text"/>
          <p:cNvSpPr txBox="1"/>
          <p:nvPr/>
        </p:nvSpPr>
        <p:spPr>
          <a:xfrm>
            <a:off x="8732520" y="1325880"/>
            <a:ext cx="2788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토큰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Access JWT 15분(본문) + Refresh 7일(HttpOnly 쿠키), 만료 전 자동 refresh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502 = 로그인 실패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서버 기동 전 요청은 nginx 502 → 화면은 "Login failed" 로만 표시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B8452F"/>
                </a:solidFill>
              </a:rPr>
              <a:t>보안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익명 가입 시 Admin 부여(S1), 잠금 미적용(S9)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설정 변경이 도크에 전달되는 경로</a:t>
            </a:r>
            <a:endParaRPr lang="en-US" sz="3000" dirty="0"/>
          </a:p>
        </p:txBody>
      </p:sp>
      <p:sp>
        <p:nvSpPr>
          <p:cNvPr id="3" name="diagram-frame"/>
          <p:cNvSpPr/>
          <p:nvPr/>
        </p:nvSpPr>
        <p:spPr>
          <a:xfrm>
            <a:off x="457200" y="1143000"/>
            <a:ext cx="112928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</p:spPr>
      </p:sp>
      <p:pic>
        <p:nvPicPr>
          <p:cNvPr id="4" name="설정 변경이 도크에 전달되는 경로" descr="설정 변경이 도크에 전달되는 경로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1294" y="1280160"/>
            <a:ext cx="7724651" cy="256032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457200" y="4251960"/>
            <a:ext cx="3581400" cy="2011680"/>
          </a:xfrm>
          <a:prstGeom prst="roundRect">
            <a:avLst>
              <a:gd name="adj" fmla="val 3636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58368" y="4416552"/>
            <a:ext cx="3179064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저장 + 통지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POST /api/setting → DB 저장 + AssetItemUpdateChannel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312920" y="4251960"/>
            <a:ext cx="3581400" cy="2011680"/>
          </a:xfrm>
          <a:prstGeom prst="roundRect">
            <a:avLst>
              <a:gd name="adj" fmla="val 3636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4514088" y="4416552"/>
            <a:ext cx="3179064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다음 heartbeat 로 전달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StateManager 가 메모리 갱신 → 응답 SetParameter 로 도크 반영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8168640" y="4251960"/>
            <a:ext cx="3581400" cy="2011680"/>
          </a:xfrm>
          <a:prstGeom prst="roundRect">
            <a:avLst>
              <a:gd name="adj" fmla="val 3636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8369808" y="4416552"/>
            <a:ext cx="3179064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452F"/>
                </a:solidFill>
              </a:rPr>
              <a:t>삭제는 미반영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DELETE 는 통지 없음 → 재시작 전까지 이전 값 전송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DxfBlazorViewer.Client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800" dirty="0">
                <a:solidFill>
                  <a:srgbClr val="D6EFE7"/>
                </a:solidFill>
              </a:rPr>
              <a:t>Blazor WASM · SkiaSharp 도면/도식 렌더링 · 폴링 + SignalR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6EFE7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웹 UI 구성</a:t>
            </a:r>
            <a:endParaRPr lang="en-US" sz="3000" dirty="0"/>
          </a:p>
        </p:txBody>
      </p:sp>
      <p:sp>
        <p:nvSpPr>
          <p:cNvPr id="3" name="diagram-frame"/>
          <p:cNvSpPr/>
          <p:nvPr/>
        </p:nvSpPr>
        <p:spPr>
          <a:xfrm>
            <a:off x="457200" y="1143000"/>
            <a:ext cx="78181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</p:spPr>
      </p:sp>
      <p:pic>
        <p:nvPicPr>
          <p:cNvPr id="4" name="웹 UI 구성" descr="웹 UI 구성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3242" y="1252728"/>
            <a:ext cx="4886037" cy="4901184"/>
          </a:xfrm>
          <a:prstGeom prst="rect">
            <a:avLst/>
          </a:prstGeom>
        </p:spPr>
      </p:pic>
      <p:sp>
        <p:nvSpPr>
          <p:cNvPr id="5" name="points-panel"/>
          <p:cNvSpPr/>
          <p:nvPr/>
        </p:nvSpPr>
        <p:spPr>
          <a:xfrm>
            <a:off x="8503920" y="1143000"/>
            <a:ext cx="3246120" cy="5120640"/>
          </a:xfrm>
          <a:prstGeom prst="roundRect">
            <a:avLst>
              <a:gd name="adj" fmla="val 2254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6" name="points-text"/>
          <p:cNvSpPr txBox="1"/>
          <p:nvPr/>
        </p:nvSpPr>
        <p:spPr>
          <a:xfrm>
            <a:off x="8732520" y="1325880"/>
            <a:ext cx="2788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상대 주소 API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HttpClient BaseAddress = 현재 사이트 → 리버스 프록시 필수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B8452F"/>
                </a:solidFill>
              </a:rPr>
              <a:t>메뉴만 숨김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MainLayout 이 역할별 메뉴만 숨기고, 페이지 자체는 로그인 확인 없음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Viewer 재사용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도면·도식 두 렌더러를 가진 Viewer 를 Monitoring 도 사용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Viewer 데이터 흐름</a:t>
            </a:r>
            <a:endParaRPr lang="en-US" sz="3000" dirty="0"/>
          </a:p>
        </p:txBody>
      </p:sp>
      <p:sp>
        <p:nvSpPr>
          <p:cNvPr id="3" name="diagram-frame"/>
          <p:cNvSpPr/>
          <p:nvPr/>
        </p:nvSpPr>
        <p:spPr>
          <a:xfrm>
            <a:off x="457200" y="1143000"/>
            <a:ext cx="7818120" cy="512064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</p:spPr>
      </p:sp>
      <p:pic>
        <p:nvPicPr>
          <p:cNvPr id="4" name="Viewer 데이터 흐름" descr="Viewer 데이터 흐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0284" y="1252728"/>
            <a:ext cx="4871952" cy="4901184"/>
          </a:xfrm>
          <a:prstGeom prst="rect">
            <a:avLst/>
          </a:prstGeom>
        </p:spPr>
      </p:pic>
      <p:sp>
        <p:nvSpPr>
          <p:cNvPr id="5" name="points-panel"/>
          <p:cNvSpPr/>
          <p:nvPr/>
        </p:nvSpPr>
        <p:spPr>
          <a:xfrm>
            <a:off x="8503920" y="1143000"/>
            <a:ext cx="3246120" cy="5120640"/>
          </a:xfrm>
          <a:prstGeom prst="roundRect">
            <a:avLst>
              <a:gd name="adj" fmla="val 2254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6" name="points-text"/>
          <p:cNvSpPr txBox="1"/>
          <p:nvPr/>
        </p:nvSpPr>
        <p:spPr>
          <a:xfrm>
            <a:off x="8732520" y="1325880"/>
            <a:ext cx="278892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도면 1회 로드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/api/dxf 를 MessagePack+LZ4 로 받아 렌더러 캐시 구성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폴링 3종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B2A2F"/>
                </a:solidFill>
              </a:rPr>
              <a:t>처리수량 2초 · 도크 상태 1초 · 알람 1초 (재진입 방지)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SignalR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서버 시각·수집 통계만 수신, 도크 상태는 폴링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도크 연결 상태 (끊김 패치 적용 후)</a:t>
            </a:r>
            <a:endParaRPr lang="en-US" sz="3000" dirty="0"/>
          </a:p>
        </p:txBody>
      </p:sp>
      <p:sp>
        <p:nvSpPr>
          <p:cNvPr id="3" name="diagram-frame"/>
          <p:cNvSpPr/>
          <p:nvPr/>
        </p:nvSpPr>
        <p:spPr>
          <a:xfrm>
            <a:off x="457200" y="1143000"/>
            <a:ext cx="112928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</p:spPr>
      </p:sp>
      <p:pic>
        <p:nvPicPr>
          <p:cNvPr id="4" name="도크 연결 상태 (끊김 패치 적용 후)" descr="도크 연결 상태 (끊김 패치 적용 후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6394" y="1280160"/>
            <a:ext cx="9454451" cy="210312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457200" y="3794760"/>
            <a:ext cx="3581400" cy="2468880"/>
          </a:xfrm>
          <a:prstGeom prst="roundRect">
            <a:avLst>
              <a:gd name="adj" fmla="val 2963"/>
            </a:avLst>
          </a:prstGeom>
          <a:solidFill>
            <a:srgbClr val="FBEDEA"/>
          </a:solidFill>
          <a:ln w="12700">
            <a:solidFill>
              <a:srgbClr val="FBEDEA"/>
            </a:solidFill>
            <a:prstDash val="solid"/>
          </a:ln>
        </p:spPr>
      </p:sp>
      <p:sp>
        <p:nvSpPr>
          <p:cNvPr id="6" name="card-text"/>
          <p:cNvSpPr txBox="1"/>
          <p:nvPr/>
        </p:nvSpPr>
        <p:spPr>
          <a:xfrm>
            <a:off x="658368" y="3959352"/>
            <a:ext cx="3179064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B8452F"/>
                </a:solidFill>
              </a:rPr>
              <a:t>원본 문제 (B17)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서버·화면 모두 수신 시각 판정 없음 → 끊긴 도크가 마지막 상태 유지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312920" y="3794760"/>
            <a:ext cx="3581400" cy="2468880"/>
          </a:xfrm>
          <a:prstGeom prst="roundRect">
            <a:avLst>
              <a:gd name="adj" fmla="val 2963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8" name="card-text"/>
          <p:cNvSpPr txBox="1"/>
          <p:nvPr/>
        </p:nvSpPr>
        <p:spPr>
          <a:xfrm>
            <a:off x="4514088" y="3959352"/>
            <a:ext cx="3179064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판정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Connected=false 또는 서버시각 - ReceivedAt &gt; TimeoutSeconds → Offline(진회색)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8168640" y="3794760"/>
            <a:ext cx="3581400" cy="2468880"/>
          </a:xfrm>
          <a:prstGeom prst="roundRect">
            <a:avLst>
              <a:gd name="adj" fmla="val 2963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10" name="card-text"/>
          <p:cNvSpPr txBox="1"/>
          <p:nvPr/>
        </p:nvSpPr>
        <p:spPr>
          <a:xfrm>
            <a:off x="8369808" y="3959352"/>
            <a:ext cx="3179064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0F6E5C"/>
                </a:solidFill>
              </a:rPr>
              <a:t>이력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끊김 E0000.0050 · 복구 E0000.0051 을 ftms_event_log 에 기록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주의 사항 요약</a:t>
            </a:r>
            <a:endParaRPr lang="en-US" sz="3000" dirty="0"/>
          </a:p>
        </p:txBody>
      </p:sp>
      <p:sp>
        <p:nvSpPr>
          <p:cNvPr id="3" name="card"/>
          <p:cNvSpPr/>
          <p:nvPr/>
        </p:nvSpPr>
        <p:spPr>
          <a:xfrm>
            <a:off x="457200" y="12344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adge"/>
          <p:cNvSpPr/>
          <p:nvPr/>
        </p:nvSpPr>
        <p:spPr>
          <a:xfrm>
            <a:off x="658368" y="1435608"/>
            <a:ext cx="457200" cy="457200"/>
          </a:xfrm>
          <a:prstGeom prst="ellipse">
            <a:avLst/>
          </a:prstGeom>
          <a:solidFill>
            <a:srgbClr val="B8452F"/>
          </a:solidFill>
          <a:ln w="12700">
            <a:solidFill>
              <a:srgbClr val="B8452F"/>
            </a:solidFill>
            <a:prstDash val="solid"/>
          </a:ln>
        </p:spPr>
      </p:sp>
      <p:sp>
        <p:nvSpPr>
          <p:cNvPr id="5" name="badge-num"/>
          <p:cNvSpPr txBox="1"/>
          <p:nvPr/>
        </p:nvSpPr>
        <p:spPr>
          <a:xfrm>
            <a:off x="658368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card-head"/>
          <p:cNvSpPr txBox="1"/>
          <p:nvPr/>
        </p:nvSpPr>
        <p:spPr>
          <a:xfrm>
            <a:off x="123444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보안</a:t>
            </a:r>
            <a:endParaRPr lang="en-US" sz="1600" dirty="0"/>
          </a:p>
        </p:txBody>
      </p:sp>
      <p:sp>
        <p:nvSpPr>
          <p:cNvPr id="7" name="card-body"/>
          <p:cNvSpPr txBox="1"/>
          <p:nvPr/>
        </p:nvSpPr>
        <p:spPr>
          <a:xfrm>
            <a:off x="685800" y="20116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익명 Admin 가입, API·SignalR·TCP 무인증, 기본 계정, 비밀키 포함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279392" y="12344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dge"/>
          <p:cNvSpPr/>
          <p:nvPr/>
        </p:nvSpPr>
        <p:spPr>
          <a:xfrm>
            <a:off x="4480560" y="1435608"/>
            <a:ext cx="457200" cy="457200"/>
          </a:xfrm>
          <a:prstGeom prst="ellipse">
            <a:avLst/>
          </a:prstGeom>
          <a:solidFill>
            <a:srgbClr val="C99A00"/>
          </a:solidFill>
          <a:ln w="12700">
            <a:solidFill>
              <a:srgbClr val="C99A00"/>
            </a:solidFill>
            <a:prstDash val="solid"/>
          </a:ln>
        </p:spPr>
      </p:sp>
      <p:sp>
        <p:nvSpPr>
          <p:cNvPr id="10" name="badge-num"/>
          <p:cNvSpPr txBox="1"/>
          <p:nvPr/>
        </p:nvSpPr>
        <p:spPr>
          <a:xfrm>
            <a:off x="4480560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card-head"/>
          <p:cNvSpPr txBox="1"/>
          <p:nvPr/>
        </p:nvSpPr>
        <p:spPr>
          <a:xfrm>
            <a:off x="5056632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기동</a:t>
            </a:r>
            <a:endParaRPr lang="en-US" sz="1600" dirty="0"/>
          </a:p>
        </p:txBody>
      </p:sp>
      <p:sp>
        <p:nvSpPr>
          <p:cNvPr id="12" name="card-body"/>
          <p:cNvSpPr txBox="1"/>
          <p:nvPr/>
        </p:nvSpPr>
        <p:spPr>
          <a:xfrm>
            <a:off x="4507992" y="20116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DB 연결 후에야 8121 개방, 재시도 없음 (B12)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8101584" y="12344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badge"/>
          <p:cNvSpPr/>
          <p:nvPr/>
        </p:nvSpPr>
        <p:spPr>
          <a:xfrm>
            <a:off x="8302752" y="1435608"/>
            <a:ext cx="457200" cy="457200"/>
          </a:xfrm>
          <a:prstGeom prst="ellipse">
            <a:avLst/>
          </a:prstGeom>
          <a:solidFill>
            <a:srgbClr val="C99A00"/>
          </a:solidFill>
          <a:ln w="12700">
            <a:solidFill>
              <a:srgbClr val="C99A00"/>
            </a:solidFill>
            <a:prstDash val="solid"/>
          </a:ln>
        </p:spPr>
      </p:sp>
      <p:sp>
        <p:nvSpPr>
          <p:cNvPr id="15" name="badge-num"/>
          <p:cNvSpPr txBox="1"/>
          <p:nvPr/>
        </p:nvSpPr>
        <p:spPr>
          <a:xfrm>
            <a:off x="8302752" y="1435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card-head"/>
          <p:cNvSpPr txBox="1"/>
          <p:nvPr/>
        </p:nvSpPr>
        <p:spPr>
          <a:xfrm>
            <a:off x="8878824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상태 영속화</a:t>
            </a:r>
            <a:endParaRPr lang="en-US" sz="1600" dirty="0"/>
          </a:p>
        </p:txBody>
      </p:sp>
      <p:sp>
        <p:nvSpPr>
          <p:cNvPr id="17" name="card-body"/>
          <p:cNvSpPr txBox="1"/>
          <p:nvPr/>
        </p:nvSpPr>
        <p:spPr>
          <a:xfrm>
            <a:off x="8330184" y="20116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저장/복원 테이블 불일치로 재시작 시 미복원 (B15)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3749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badge"/>
          <p:cNvSpPr/>
          <p:nvPr/>
        </p:nvSpPr>
        <p:spPr>
          <a:xfrm>
            <a:off x="658368" y="3950208"/>
            <a:ext cx="457200" cy="457200"/>
          </a:xfrm>
          <a:prstGeom prst="ellipse">
            <a:avLst/>
          </a:prstGeom>
          <a:solidFill>
            <a:srgbClr val="C99A00"/>
          </a:solidFill>
          <a:ln w="12700">
            <a:solidFill>
              <a:srgbClr val="C99A00"/>
            </a:solidFill>
            <a:prstDash val="solid"/>
          </a:ln>
        </p:spPr>
      </p:sp>
      <p:sp>
        <p:nvSpPr>
          <p:cNvPr id="20" name="badge-num"/>
          <p:cNvSpPr txBox="1"/>
          <p:nvPr/>
        </p:nvSpPr>
        <p:spPr>
          <a:xfrm>
            <a:off x="658368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card-head"/>
          <p:cNvSpPr txBox="1"/>
          <p:nvPr/>
        </p:nvSpPr>
        <p:spPr>
          <a:xfrm>
            <a:off x="1234440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끊김 표시</a:t>
            </a:r>
            <a:endParaRPr lang="en-US" sz="1600" dirty="0"/>
          </a:p>
        </p:txBody>
      </p:sp>
      <p:sp>
        <p:nvSpPr>
          <p:cNvPr id="22" name="card-body"/>
          <p:cNvSpPr txBox="1"/>
          <p:nvPr/>
        </p:nvSpPr>
        <p:spPr>
          <a:xfrm>
            <a:off x="685800" y="45262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수신 시각 판정 없음 → 패치 dock-offline (B17)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4279392" y="3749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badge"/>
          <p:cNvSpPr/>
          <p:nvPr/>
        </p:nvSpPr>
        <p:spPr>
          <a:xfrm>
            <a:off x="4480560" y="3950208"/>
            <a:ext cx="457200" cy="457200"/>
          </a:xfrm>
          <a:prstGeom prst="ellipse">
            <a:avLst/>
          </a:prstGeom>
          <a:solidFill>
            <a:srgbClr val="B8452F"/>
          </a:solidFill>
          <a:ln w="12700">
            <a:solidFill>
              <a:srgbClr val="B8452F"/>
            </a:solidFill>
            <a:prstDash val="solid"/>
          </a:ln>
        </p:spPr>
      </p:sp>
      <p:sp>
        <p:nvSpPr>
          <p:cNvPr id="25" name="badge-num"/>
          <p:cNvSpPr txBox="1"/>
          <p:nvPr/>
        </p:nvSpPr>
        <p:spPr>
          <a:xfrm>
            <a:off x="448056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card-head"/>
          <p:cNvSpPr txBox="1"/>
          <p:nvPr/>
        </p:nvSpPr>
        <p:spPr>
          <a:xfrm>
            <a:off x="5056632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예외 처리</a:t>
            </a:r>
            <a:endParaRPr lang="en-US" sz="1600" dirty="0"/>
          </a:p>
        </p:txBody>
      </p:sp>
      <p:sp>
        <p:nvSpPr>
          <p:cNvPr id="27" name="card-body"/>
          <p:cNvSpPr txBox="1"/>
          <p:nvPr/>
        </p:nvSpPr>
        <p:spPr>
          <a:xfrm>
            <a:off x="4507992" y="45262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async void 타이머, 집계 루프 무방비, 빈 catch (B1·B2·B6)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8101584" y="3749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BD5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badge"/>
          <p:cNvSpPr/>
          <p:nvPr/>
        </p:nvSpPr>
        <p:spPr>
          <a:xfrm>
            <a:off x="8302752" y="3950208"/>
            <a:ext cx="457200" cy="457200"/>
          </a:xfrm>
          <a:prstGeom prst="ellipse">
            <a:avLst/>
          </a:prstGeom>
          <a:solidFill>
            <a:srgbClr val="C99A00"/>
          </a:solidFill>
          <a:ln w="12700">
            <a:solidFill>
              <a:srgbClr val="C99A00"/>
            </a:solidFill>
            <a:prstDash val="solid"/>
          </a:ln>
        </p:spPr>
      </p:sp>
      <p:sp>
        <p:nvSpPr>
          <p:cNvPr id="30" name="badge-num"/>
          <p:cNvSpPr txBox="1"/>
          <p:nvPr/>
        </p:nvSpPr>
        <p:spPr>
          <a:xfrm>
            <a:off x="8302752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card-head"/>
          <p:cNvSpPr txBox="1"/>
          <p:nvPr/>
        </p:nvSpPr>
        <p:spPr>
          <a:xfrm>
            <a:off x="8878824" y="39319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F"/>
                </a:solidFill>
              </a:rPr>
              <a:t>동시성</a:t>
            </a:r>
            <a:endParaRPr lang="en-US" sz="1600" dirty="0"/>
          </a:p>
        </p:txBody>
      </p:sp>
      <p:sp>
        <p:nvSpPr>
          <p:cNvPr id="32" name="card-body"/>
          <p:cNvSpPr txBox="1"/>
          <p:nvPr/>
        </p:nvSpPr>
        <p:spPr>
          <a:xfrm>
            <a:off x="8330184" y="4526280"/>
            <a:ext cx="3154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2F"/>
                </a:solidFill>
              </a:rPr>
              <a:t>내부 가변 객체 반환, Default 공유 객체 수정 (B3·B10)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권장 조치 순서</a:t>
            </a:r>
            <a:endParaRPr lang="en-US" sz="3000" dirty="0"/>
          </a:p>
        </p:txBody>
      </p:sp>
      <p:sp>
        <p:nvSpPr>
          <p:cNvPr id="3" name="step-head"/>
          <p:cNvSpPr/>
          <p:nvPr/>
        </p:nvSpPr>
        <p:spPr>
          <a:xfrm>
            <a:off x="457200" y="18288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B8452F"/>
          </a:solidFill>
          <a:ln w="12700">
            <a:solidFill>
              <a:srgbClr val="B8452F"/>
            </a:solidFill>
            <a:prstDash val="solid"/>
          </a:ln>
        </p:spPr>
      </p:sp>
      <p:sp>
        <p:nvSpPr>
          <p:cNvPr id="4" name="step-label"/>
          <p:cNvSpPr txBox="1"/>
          <p:nvPr/>
        </p:nvSpPr>
        <p:spPr>
          <a:xfrm>
            <a:off x="45720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즉시 · 보안</a:t>
            </a:r>
            <a:endParaRPr lang="en-US" sz="1800" dirty="0"/>
          </a:p>
        </p:txBody>
      </p:sp>
      <p:sp>
        <p:nvSpPr>
          <p:cNvPr id="5" name="step-arrow"/>
          <p:cNvSpPr/>
          <p:nvPr/>
        </p:nvSpPr>
        <p:spPr>
          <a:xfrm>
            <a:off x="3108960" y="2029968"/>
            <a:ext cx="182880" cy="274320"/>
          </a:xfrm>
          <a:prstGeom prst="chevron">
            <a:avLst/>
          </a:prstGeom>
          <a:solidFill>
            <a:srgbClr val="CBD5D8"/>
          </a:solidFill>
          <a:ln w="12700">
            <a:solidFill>
              <a:srgbClr val="CBD5D8"/>
            </a:solidFill>
            <a:prstDash val="solid"/>
          </a:ln>
        </p:spPr>
      </p:sp>
      <p:sp>
        <p:nvSpPr>
          <p:cNvPr id="6" name="step-card"/>
          <p:cNvSpPr/>
          <p:nvPr/>
        </p:nvSpPr>
        <p:spPr>
          <a:xfrm>
            <a:off x="457200" y="27432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7" name="step-text"/>
          <p:cNvSpPr txBox="1"/>
          <p:nvPr/>
        </p:nvSpPr>
        <p:spPr>
          <a:xfrm>
            <a:off x="658368" y="2926080"/>
            <a:ext cx="2203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</a:rPr>
              <a:t>register 제거·권한 필수화, 시드 계정 제거, 비밀키 교체, CORS 제한</a:t>
            </a:r>
            <a:endParaRPr lang="en-US" sz="1400" dirty="0"/>
          </a:p>
        </p:txBody>
      </p:sp>
      <p:sp>
        <p:nvSpPr>
          <p:cNvPr id="8" name="step-head"/>
          <p:cNvSpPr/>
          <p:nvPr/>
        </p:nvSpPr>
        <p:spPr>
          <a:xfrm>
            <a:off x="3337560" y="18288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0F6E5C"/>
          </a:solidFill>
          <a:ln w="12700">
            <a:solidFill>
              <a:srgbClr val="0F6E5C"/>
            </a:solidFill>
            <a:prstDash val="solid"/>
          </a:ln>
        </p:spPr>
      </p:sp>
      <p:sp>
        <p:nvSpPr>
          <p:cNvPr id="9" name="step-label"/>
          <p:cNvSpPr txBox="1"/>
          <p:nvPr/>
        </p:nvSpPr>
        <p:spPr>
          <a:xfrm>
            <a:off x="333756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단기 · 안정성</a:t>
            </a:r>
            <a:endParaRPr lang="en-US" sz="1800" dirty="0"/>
          </a:p>
        </p:txBody>
      </p:sp>
      <p:sp>
        <p:nvSpPr>
          <p:cNvPr id="10" name="step-arrow"/>
          <p:cNvSpPr/>
          <p:nvPr/>
        </p:nvSpPr>
        <p:spPr>
          <a:xfrm>
            <a:off x="5989320" y="2029968"/>
            <a:ext cx="182880" cy="274320"/>
          </a:xfrm>
          <a:prstGeom prst="chevron">
            <a:avLst/>
          </a:prstGeom>
          <a:solidFill>
            <a:srgbClr val="CBD5D8"/>
          </a:solidFill>
          <a:ln w="12700">
            <a:solidFill>
              <a:srgbClr val="CBD5D8"/>
            </a:solidFill>
            <a:prstDash val="solid"/>
          </a:ln>
        </p:spPr>
      </p:sp>
      <p:sp>
        <p:nvSpPr>
          <p:cNvPr id="11" name="step-card"/>
          <p:cNvSpPr/>
          <p:nvPr/>
        </p:nvSpPr>
        <p:spPr>
          <a:xfrm>
            <a:off x="3337560" y="27432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12" name="step-text"/>
          <p:cNvSpPr txBox="1"/>
          <p:nvPr/>
        </p:nvSpPr>
        <p:spPr>
          <a:xfrm>
            <a:off x="3538728" y="2926080"/>
            <a:ext cx="2203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</a:rPr>
              <a:t>B1·B2·B3·B6·B12·B15·B17 — 대부분 수 줄 수정</a:t>
            </a:r>
            <a:endParaRPr lang="en-US" sz="1400" dirty="0"/>
          </a:p>
        </p:txBody>
      </p:sp>
      <p:sp>
        <p:nvSpPr>
          <p:cNvPr id="13" name="step-head"/>
          <p:cNvSpPr/>
          <p:nvPr/>
        </p:nvSpPr>
        <p:spPr>
          <a:xfrm>
            <a:off x="6217920" y="18288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0F6E5C"/>
          </a:solidFill>
          <a:ln w="12700">
            <a:solidFill>
              <a:srgbClr val="0F6E5C"/>
            </a:solidFill>
            <a:prstDash val="solid"/>
          </a:ln>
        </p:spPr>
      </p:sp>
      <p:sp>
        <p:nvSpPr>
          <p:cNvPr id="14" name="step-label"/>
          <p:cNvSpPr txBox="1"/>
          <p:nvPr/>
        </p:nvSpPr>
        <p:spPr>
          <a:xfrm>
            <a:off x="621792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중기 · 빌드·구성</a:t>
            </a:r>
            <a:endParaRPr lang="en-US" sz="1800" dirty="0"/>
          </a:p>
        </p:txBody>
      </p:sp>
      <p:sp>
        <p:nvSpPr>
          <p:cNvPr id="15" name="step-arrow"/>
          <p:cNvSpPr/>
          <p:nvPr/>
        </p:nvSpPr>
        <p:spPr>
          <a:xfrm>
            <a:off x="8869680" y="2029968"/>
            <a:ext cx="182880" cy="274320"/>
          </a:xfrm>
          <a:prstGeom prst="chevron">
            <a:avLst/>
          </a:prstGeom>
          <a:solidFill>
            <a:srgbClr val="CBD5D8"/>
          </a:solidFill>
          <a:ln w="12700">
            <a:solidFill>
              <a:srgbClr val="CBD5D8"/>
            </a:solidFill>
            <a:prstDash val="solid"/>
          </a:ln>
        </p:spPr>
      </p:sp>
      <p:sp>
        <p:nvSpPr>
          <p:cNvPr id="16" name="step-card"/>
          <p:cNvSpPr/>
          <p:nvPr/>
        </p:nvSpPr>
        <p:spPr>
          <a:xfrm>
            <a:off x="6217920" y="27432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17" name="step-text"/>
          <p:cNvSpPr txBox="1"/>
          <p:nvPr/>
        </p:nvSpPr>
        <p:spPr>
          <a:xfrm>
            <a:off x="6419088" y="2926080"/>
            <a:ext cx="2203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</a:rPr>
              <a:t>NuGet 버전 고정, 참조 방식 통일, EF Migrations</a:t>
            </a:r>
            <a:endParaRPr lang="en-US" sz="1400" dirty="0"/>
          </a:p>
        </p:txBody>
      </p:sp>
      <p:sp>
        <p:nvSpPr>
          <p:cNvPr id="18" name="step-head"/>
          <p:cNvSpPr/>
          <p:nvPr/>
        </p:nvSpPr>
        <p:spPr>
          <a:xfrm>
            <a:off x="9098280" y="18288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0F6E5C"/>
          </a:solidFill>
          <a:ln w="12700">
            <a:solidFill>
              <a:srgbClr val="0F6E5C"/>
            </a:solidFill>
            <a:prstDash val="solid"/>
          </a:ln>
        </p:spPr>
      </p:sp>
      <p:sp>
        <p:nvSpPr>
          <p:cNvPr id="19" name="step-label"/>
          <p:cNvSpPr txBox="1"/>
          <p:nvPr/>
        </p:nvSpPr>
        <p:spPr>
          <a:xfrm>
            <a:off x="9098280" y="182880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장기 · 구조</a:t>
            </a:r>
            <a:endParaRPr lang="en-US" sz="1800" dirty="0"/>
          </a:p>
        </p:txBody>
      </p:sp>
      <p:sp>
        <p:nvSpPr>
          <p:cNvPr id="20" name="step-card"/>
          <p:cNvSpPr/>
          <p:nvPr/>
        </p:nvSpPr>
        <p:spPr>
          <a:xfrm>
            <a:off x="9098280" y="274320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E6F2EE"/>
          </a:solidFill>
          <a:ln w="12700">
            <a:solidFill>
              <a:srgbClr val="E6F2EE"/>
            </a:solidFill>
            <a:prstDash val="solid"/>
          </a:ln>
        </p:spPr>
      </p:sp>
      <p:sp>
        <p:nvSpPr>
          <p:cNvPr id="21" name="step-text"/>
          <p:cNvSpPr txBox="1"/>
          <p:nvPr/>
        </p:nvSpPr>
        <p:spPr>
          <a:xfrm>
            <a:off x="9299448" y="2926080"/>
            <a:ext cx="2203704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A2F"/>
                </a:solidFill>
              </a:rPr>
              <a:t>죽은 코드 정리, 대형 파일 분리, 단위 테스트, 폴링 → 푸시</a:t>
            </a:r>
            <a:endParaRPr lang="en-US" sz="1400" dirty="0"/>
          </a:p>
        </p:txBody>
      </p:sp>
      <p:sp>
        <p:nvSpPr>
          <p:cNvPr id="22" name="refs"/>
          <p:cNvSpPr txBox="1"/>
          <p:nvPr/>
        </p:nvSpPr>
        <p:spPr>
          <a:xfrm>
            <a:off x="457200" y="5989320"/>
            <a:ext cx="11292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0"/>
                </a:solidFill>
              </a:rPr>
              <a:t>상세: docs/01 최종 분석 보고서 §9 · docs/04 설명서 · setup/patches/dock-offline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B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TMS Teal">
  <a:themeElements>
    <a:clrScheme name="FTMS Teal">
      <a:dk1>
        <a:srgbClr val="1B2A2F"/>
      </a:dk1>
      <a:lt1>
        <a:srgbClr val="FFFFFF"/>
      </a:lt1>
      <a:dk2>
        <a:srgbClr val="0B3B33"/>
      </a:dk2>
      <a:lt2>
        <a:srgbClr val="EEF4F2"/>
      </a:lt2>
      <a:accent1>
        <a:srgbClr val="0F6E5C"/>
      </a:accent1>
      <a:accent2>
        <a:srgbClr val="C99A00"/>
      </a:accent2>
      <a:accent3>
        <a:srgbClr val="B8452F"/>
      </a:accent3>
      <a:accent4>
        <a:srgbClr val="3A6EA5"/>
      </a:accent4>
      <a:accent5>
        <a:srgbClr val="5A5F66"/>
      </a:accent5>
      <a:accent6>
        <a:srgbClr val="7FB8A8"/>
      </a:accent6>
      <a:hlink>
        <a:srgbClr val="0F6E5C"/>
      </a:hlink>
      <a:folHlink>
        <a:srgbClr val="5A5F66"/>
      </a:folHlink>
    </a:clrScheme>
    <a:fontScheme name="FTMS Teal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app-server.ftms / DxfBlazorViewer.Client 주요 클래스·함수</dc:title>
  <dc:subject>CJ.SCADA FTMS 개발 참고</dc:subject>
  <dc:creator>CJ.SCADA 분석</dc:creator>
  <cp:lastModifiedBy>CJ.SCADA 분석</cp:lastModifiedBy>
  <cp:revision>1</cp:revision>
  <dcterms:created xsi:type="dcterms:W3CDTF">2026-10-20T23:23:11Z</dcterms:created>
  <dcterms:modified xsi:type="dcterms:W3CDTF">2026-10-20T23:23:11Z</dcterms:modified>
</cp:coreProperties>
</file>